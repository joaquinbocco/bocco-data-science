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aggle.com/datasets/syedanwarafridi/vehicle-sales-data?resource=download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49A75E-DED7-81F6-6475-34D7C24C39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4336" y="-335244"/>
            <a:ext cx="8825658" cy="3329581"/>
          </a:xfrm>
        </p:spPr>
        <p:txBody>
          <a:bodyPr/>
          <a:lstStyle/>
          <a:p>
            <a:r>
              <a:rPr lang="es-AR" b="1" dirty="0" err="1"/>
              <a:t>Vehicle</a:t>
            </a:r>
            <a:r>
              <a:rPr lang="es-AR" b="1" dirty="0"/>
              <a:t> Sales Data</a:t>
            </a:r>
            <a:br>
              <a:rPr lang="es-AR" b="1" dirty="0"/>
            </a:b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8C918B-F1CA-177E-43A4-E85BD7E574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0709" y="3823650"/>
            <a:ext cx="8805323" cy="632820"/>
          </a:xfrm>
        </p:spPr>
        <p:txBody>
          <a:bodyPr/>
          <a:lstStyle/>
          <a:p>
            <a:pPr algn="ctr"/>
            <a:r>
              <a:rPr lang="es-AR" b="1" dirty="0"/>
              <a:t>Trabajo practico n°1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96AF0A5-21D5-4E4D-3CFC-03CDD407578F}"/>
              </a:ext>
            </a:extLst>
          </p:cNvPr>
          <p:cNvSpPr/>
          <p:nvPr/>
        </p:nvSpPr>
        <p:spPr>
          <a:xfrm>
            <a:off x="4503174" y="4861784"/>
            <a:ext cx="3185652" cy="4533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err="1"/>
              <a:t>Bocco</a:t>
            </a:r>
            <a:r>
              <a:rPr lang="es-AR" dirty="0"/>
              <a:t> Joaquín	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DB8295A9-BC9F-BAC0-2469-EF94266550EF}"/>
              </a:ext>
            </a:extLst>
          </p:cNvPr>
          <p:cNvSpPr/>
          <p:nvPr/>
        </p:nvSpPr>
        <p:spPr>
          <a:xfrm>
            <a:off x="993057" y="2615382"/>
            <a:ext cx="9694607" cy="6328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Se procede analizar mas 550000 registros de ventas de autos en EE.UU., para comprender qué factores influyen en el precio de venta</a:t>
            </a:r>
            <a:endParaRPr lang="es-AR" sz="1400" dirty="0"/>
          </a:p>
        </p:txBody>
      </p:sp>
    </p:spTree>
    <p:extLst>
      <p:ext uri="{BB962C8B-B14F-4D97-AF65-F5344CB8AC3E}">
        <p14:creationId xmlns:p14="http://schemas.microsoft.com/office/powerpoint/2010/main" val="2089421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D6966C-C39F-ADD2-A525-B612A707B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9252154" cy="122398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3900"/>
              <a:t>Limpieza de datos &amp; métricas </a:t>
            </a:r>
            <a:r>
              <a:rPr lang="es-ES" sz="3900" err="1"/>
              <a:t>univariadas</a:t>
            </a:r>
            <a:endParaRPr lang="es-AR" sz="390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D27A6F1-35FA-2CFB-403F-0876AACDB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1" y="2052214"/>
            <a:ext cx="4338409" cy="419618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s-ES">
                <a:latin typeface="Arial" panose="020B0604020202020204" pitchFamily="34" charset="0"/>
                <a:cs typeface="Arial" panose="020B0604020202020204" pitchFamily="34" charset="0"/>
              </a:rPr>
              <a:t>El precio de venta muestra una distribución asimétrica hacia la derecha, concentrando la mayor parte de los vehículos entre 10.000 y 15.000 USD, que es el rango más frecuente.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C79A261-6C50-1CDC-F697-90D65CB4A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916" y="2957762"/>
            <a:ext cx="5451627" cy="238508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82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1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BCB1940-B6D8-F16F-0007-28A25BF19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>
            <a:normAutofit/>
          </a:bodyPr>
          <a:lstStyle/>
          <a:p>
            <a:r>
              <a:rPr lang="es-AR" sz="3900">
                <a:solidFill>
                  <a:srgbClr val="EBEBEB"/>
                </a:solidFill>
              </a:rPr>
              <a:t>Relación Venta VS Marca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5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s-AR"/>
          </a:p>
        </p:txBody>
      </p:sp>
      <p:pic>
        <p:nvPicPr>
          <p:cNvPr id="5" name="Marcador de contenido 4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5C8B0FD3-7957-4F3E-DEF7-287E0329A9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9" r="20472" b="-2"/>
          <a:stretch>
            <a:fillRect/>
          </a:stretch>
        </p:blipFill>
        <p:spPr>
          <a:xfrm>
            <a:off x="6093992" y="1331592"/>
            <a:ext cx="5449889" cy="4194812"/>
          </a:xfrm>
          <a:prstGeom prst="rect">
            <a:avLst/>
          </a:prstGeom>
          <a:effectLst/>
        </p:spPr>
      </p:pic>
      <p:sp>
        <p:nvSpPr>
          <p:cNvPr id="15" name="Rectangle 17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E4F5503-D589-1DD0-102E-B1F99805D3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8931" y="2438400"/>
            <a:ext cx="4166509" cy="37854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R="0" lvl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s-AR" altLang="es-AR" sz="1700" i="0" u="none" strike="noStrike" cap="none" normalizeH="0" baseline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Ford se ubica como la marca más vendida, superando los 80000 vehículos, lo que indica una fuerte presencia en el mercado de autos usados.</a:t>
            </a:r>
          </a:p>
          <a:p>
            <a:pPr marR="0" lvl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s-AR" altLang="es-AR" sz="1700" i="0" u="none" strike="noStrike" cap="none" normalizeH="0" baseline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Le siguen Chevrolet, Nissan y Toyota, todas con volúmenes que rondan entre 35000 y 55000 unidades.</a:t>
            </a:r>
          </a:p>
          <a:p>
            <a:pPr marR="0" lvl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s-AR" altLang="es-AR" sz="1700" i="0" u="none" strike="noStrike" cap="none" normalizeH="0" baseline="0">
                <a:ln>
                  <a:noFill/>
                </a:ln>
                <a:solidFill>
                  <a:srgbClr val="EBEBEB"/>
                </a:solidFill>
                <a:effectLst/>
                <a:latin typeface="Arial" panose="020B0604020202020204" pitchFamily="34" charset="0"/>
              </a:rPr>
              <a:t>En un segundo escalón aparecen Dodge, Honda, Hyundai, BMW, Kia y Chrysler, con cifras que oscilan entre 15000 y 28000 vehículos.</a:t>
            </a:r>
          </a:p>
        </p:txBody>
      </p:sp>
    </p:spTree>
    <p:extLst>
      <p:ext uri="{BB962C8B-B14F-4D97-AF65-F5344CB8AC3E}">
        <p14:creationId xmlns:p14="http://schemas.microsoft.com/office/powerpoint/2010/main" val="1454592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841A2983-F544-6674-0DF1-64006F8F7D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02" r="2" b="2"/>
          <a:stretch>
            <a:fillRect/>
          </a:stretch>
        </p:blipFill>
        <p:spPr>
          <a:xfrm>
            <a:off x="6094412" y="609137"/>
            <a:ext cx="5782740" cy="276629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78" name="Rectangle 73">
            <a:extLst>
              <a:ext uri="{FF2B5EF4-FFF2-40B4-BE49-F238E27FC236}">
                <a16:creationId xmlns:a16="http://schemas.microsoft.com/office/drawing/2014/main" id="{AC546BE4-C7A3-4A47-9FA5-0866D5E656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0200690-3546-2B7E-C70D-E49D9E1DF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175" y="2484544"/>
            <a:ext cx="4799145" cy="3763855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marR="0" lvl="0" indent="-285750" fontAlgn="base">
              <a:lnSpc>
                <a:spcPct val="90000"/>
              </a:lnSpc>
              <a:tabLst/>
            </a:pPr>
            <a:r>
              <a:rPr kumimoji="0" lang="en-US" altLang="es-AR" sz="1900" u="none" strike="noStrike" cap="none" normalizeH="0" baseline="0">
                <a:ln>
                  <a:noFill/>
                </a:ln>
                <a:effectLst/>
              </a:rPr>
              <a:t>Los autos de la ultima década (2010) mantienen precios más altos incluso con km más elevados.</a:t>
            </a:r>
          </a:p>
          <a:p>
            <a:pPr marL="285750" marR="0" lvl="0" indent="-285750" fontAlgn="base">
              <a:lnSpc>
                <a:spcPct val="90000"/>
              </a:lnSpc>
              <a:tabLst/>
            </a:pPr>
            <a:r>
              <a:rPr kumimoji="0" lang="en-US" altLang="es-AR" sz="1900" u="none" strike="noStrike" cap="none" normalizeH="0" baseline="0">
                <a:ln>
                  <a:noFill/>
                </a:ln>
                <a:effectLst/>
              </a:rPr>
              <a:t>Los vehículos más antiguos (1990 y 2000) presentan precios mucho más bajos y se deprecian más rápido.</a:t>
            </a:r>
          </a:p>
          <a:p>
            <a:pPr marL="285750" marR="0" lvl="0" indent="-285750" fontAlgn="base">
              <a:lnSpc>
                <a:spcPct val="90000"/>
              </a:lnSpc>
              <a:tabLst/>
            </a:pPr>
            <a:r>
              <a:rPr kumimoji="0" lang="en-US" altLang="es-AR" sz="1900" u="none" strike="noStrike" cap="none" normalizeH="0" baseline="0">
                <a:ln>
                  <a:noFill/>
                </a:ln>
                <a:effectLst/>
              </a:rPr>
              <a:t>La forma de la nube de puntos es similar en todas las décadas, lo que indica que la relación “más km = menos precio” se mantiene, pero el efecto es más pronunciado en autos viejos.</a:t>
            </a:r>
          </a:p>
        </p:txBody>
      </p:sp>
      <p:pic>
        <p:nvPicPr>
          <p:cNvPr id="8" name="Marcador de contenido 7" descr="Gráfico&#10;&#10;El contenido generado por IA puede ser incorrecto.">
            <a:extLst>
              <a:ext uri="{FF2B5EF4-FFF2-40B4-BE49-F238E27FC236}">
                <a16:creationId xmlns:a16="http://schemas.microsoft.com/office/drawing/2014/main" id="{300EE269-F514-BC36-065D-C8DE416D0A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002" r="2" b="2"/>
          <a:stretch>
            <a:fillRect/>
          </a:stretch>
        </p:blipFill>
        <p:spPr>
          <a:xfrm>
            <a:off x="6094411" y="3482108"/>
            <a:ext cx="5782739" cy="276629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BC9B21C-5628-87EB-61CF-E358476D1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 flipH="1" flipV="1">
            <a:off x="13366957" y="1095688"/>
            <a:ext cx="45719" cy="4571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529332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59C2321-6877-3935-4684-ABB5AFBF3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4303070" flipV="1">
            <a:off x="-6540730" y="-547598"/>
            <a:ext cx="227106" cy="163982"/>
          </a:xfrm>
        </p:spPr>
        <p:txBody>
          <a:bodyPr anchor="b">
            <a:normAutofit fontScale="90000"/>
          </a:bodyPr>
          <a:lstStyle/>
          <a:p>
            <a:endParaRPr lang="es-AR" sz="3200" dirty="0">
              <a:solidFill>
                <a:srgbClr val="EBEBEB"/>
              </a:solidFill>
            </a:endParaRPr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pic>
        <p:nvPicPr>
          <p:cNvPr id="5" name="Marcador de contenido 4" descr="Gráfico">
            <a:extLst>
              <a:ext uri="{FF2B5EF4-FFF2-40B4-BE49-F238E27FC236}">
                <a16:creationId xmlns:a16="http://schemas.microsoft.com/office/drawing/2014/main" id="{7D12D17C-D354-6EDF-1873-7F1CB89EC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582" y="1209303"/>
            <a:ext cx="6495847" cy="3751352"/>
          </a:xfrm>
          <a:prstGeom prst="rect">
            <a:avLst/>
          </a:prstGeom>
          <a:effectLst/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3721F164-3FF2-968C-6CE2-8E2D4DB135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7542" y="1636668"/>
            <a:ext cx="3417168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s-AR" altLang="es-A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Año </a:t>
            </a:r>
            <a:r>
              <a:rPr lang="es-AR" altLang="es-AR" sz="1400" dirty="0">
                <a:solidFill>
                  <a:schemeClr val="bg1"/>
                </a:solidFill>
                <a:latin typeface="Arial" panose="020B0604020202020204" pitchFamily="34" charset="0"/>
              </a:rPr>
              <a:t>/ D</a:t>
            </a:r>
            <a:r>
              <a:rPr kumimoji="0" lang="es-AR" altLang="es-A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écada presentan una correlación positiva con el precio → </a:t>
            </a:r>
            <a:r>
              <a:rPr kumimoji="0" lang="es-AR" altLang="es-AR" sz="1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los autos más nuevos tienden a valer más</a:t>
            </a:r>
            <a:r>
              <a:rPr kumimoji="0" lang="es-AR" altLang="es-A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s-AR" altLang="es-A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</a:t>
            </a:r>
            <a:r>
              <a:rPr lang="es-AR" altLang="es-AR" sz="1400" dirty="0">
                <a:solidFill>
                  <a:schemeClr val="bg1"/>
                </a:solidFill>
                <a:latin typeface="Arial" panose="020B0604020202020204" pitchFamily="34" charset="0"/>
              </a:rPr>
              <a:t>m</a:t>
            </a:r>
            <a:r>
              <a:rPr kumimoji="0" lang="es-AR" altLang="es-A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muestra una correlación negativa con el año → </a:t>
            </a:r>
            <a:r>
              <a:rPr kumimoji="0" lang="es-AR" altLang="es-AR" sz="1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los autos más nuevos tienen menos uso</a:t>
            </a:r>
            <a:r>
              <a:rPr kumimoji="0" lang="es-AR" altLang="es-A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s-AR" altLang="es-AR" sz="1400" dirty="0">
                <a:solidFill>
                  <a:schemeClr val="bg1"/>
                </a:solidFill>
                <a:latin typeface="Arial" panose="020B0604020202020204" pitchFamily="34" charset="0"/>
              </a:rPr>
              <a:t>E</a:t>
            </a:r>
            <a:r>
              <a:rPr kumimoji="0" lang="es-AR" altLang="es-A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xiste una correlación negativa entre km y precio → </a:t>
            </a:r>
            <a:r>
              <a:rPr kumimoji="0" lang="es-AR" altLang="es-AR" sz="1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más kilómetros = menor valor de venta</a:t>
            </a:r>
            <a:r>
              <a:rPr kumimoji="0" lang="es-AR" altLang="es-A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s-AR" altLang="es-A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La variable transmisión (automática/manual) presenta correlaciones </a:t>
            </a:r>
            <a:r>
              <a:rPr lang="es-AR" altLang="es-AR" sz="1400" dirty="0">
                <a:solidFill>
                  <a:schemeClr val="bg1"/>
                </a:solidFill>
                <a:latin typeface="Arial" panose="020B0604020202020204" pitchFamily="34" charset="0"/>
              </a:rPr>
              <a:t>prácticamente </a:t>
            </a:r>
            <a:r>
              <a:rPr kumimoji="0" lang="es-AR" altLang="es-A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nulas, lo que indica que no influye de manera significativa en el precio.</a:t>
            </a:r>
          </a:p>
        </p:txBody>
      </p:sp>
    </p:spTree>
    <p:extLst>
      <p:ext uri="{BB962C8B-B14F-4D97-AF65-F5344CB8AC3E}">
        <p14:creationId xmlns:p14="http://schemas.microsoft.com/office/powerpoint/2010/main" val="9517158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11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Freeform: Shape 15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29" name="Rectangle 17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pic>
        <p:nvPicPr>
          <p:cNvPr id="5" name="Marcador de contenido 4" descr="Gráfico, Gráfico de cajas y bigotes&#10;&#10;El contenido generado por IA puede ser incorrecto.">
            <a:extLst>
              <a:ext uri="{FF2B5EF4-FFF2-40B4-BE49-F238E27FC236}">
                <a16:creationId xmlns:a16="http://schemas.microsoft.com/office/drawing/2014/main" id="{545B3715-5EC9-2D55-00FF-2895A5D96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451" y="1527350"/>
            <a:ext cx="6495847" cy="4139920"/>
          </a:xfrm>
          <a:prstGeom prst="rect">
            <a:avLst/>
          </a:prstGeom>
          <a:effectLst/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7A6293FA-B7D6-610C-22B1-A4DEE859BA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7702" y="1656577"/>
            <a:ext cx="2892552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s-AR" altLang="es-A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La mediana de precio se encuentran entre 12.000 y 15.000 USD, con la marca Ford en primer lugar.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s-AR" altLang="es-AR" sz="1400" dirty="0">
                <a:solidFill>
                  <a:schemeClr val="bg1"/>
                </a:solidFill>
                <a:latin typeface="Arial" panose="020B0604020202020204" pitchFamily="34" charset="0"/>
              </a:rPr>
              <a:t>El resto de las</a:t>
            </a:r>
            <a:r>
              <a:rPr kumimoji="0" lang="es-AR" altLang="es-A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marcas presentan  </a:t>
            </a:r>
            <a:r>
              <a:rPr kumimoji="0" lang="es-AR" altLang="es-AR" sz="1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outliers</a:t>
            </a:r>
            <a:r>
              <a:rPr kumimoji="0" lang="es-AR" altLang="es-A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por encima de 30.000 USD, lo que refleja modelos premium.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s-AR" altLang="es-AR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Además de la marca, hay otras factores que impacta en el precio, como el año, kilometraje y condición del vehículo.</a:t>
            </a:r>
          </a:p>
        </p:txBody>
      </p:sp>
    </p:spTree>
    <p:extLst>
      <p:ext uri="{BB962C8B-B14F-4D97-AF65-F5344CB8AC3E}">
        <p14:creationId xmlns:p14="http://schemas.microsoft.com/office/powerpoint/2010/main" val="21236304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9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0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pic>
        <p:nvPicPr>
          <p:cNvPr id="31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2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3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34" name="Rectangle 21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9A47524-DC87-CCEB-EA4A-CCC447F8D6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288593" y="2408499"/>
            <a:ext cx="3028335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s-ES" sz="1400" dirty="0">
                <a:solidFill>
                  <a:schemeClr val="bg1"/>
                </a:solidFill>
              </a:rPr>
              <a:t>El </a:t>
            </a:r>
            <a:r>
              <a:rPr lang="es-ES" sz="1400" dirty="0" err="1">
                <a:solidFill>
                  <a:schemeClr val="bg1"/>
                </a:solidFill>
              </a:rPr>
              <a:t>pairplot</a:t>
            </a:r>
            <a:r>
              <a:rPr lang="es-ES" sz="1400" dirty="0">
                <a:solidFill>
                  <a:schemeClr val="bg1"/>
                </a:solidFill>
              </a:rPr>
              <a:t> confirma que el mercado automotriz sigue una estructura clara: el precio de un vehículo está </a:t>
            </a:r>
            <a:r>
              <a:rPr lang="es-E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determinado</a:t>
            </a:r>
            <a:r>
              <a:rPr lang="es-ES" sz="1400" dirty="0">
                <a:solidFill>
                  <a:schemeClr val="bg1"/>
                </a:solidFill>
              </a:rPr>
              <a:t> principalmente por el año y KM, y ambos factores interactúan de forma conjunta para explicar su valor real. Además implementamos las ventas en función a la localidad.</a:t>
            </a:r>
            <a:endParaRPr kumimoji="0" lang="es-AR" altLang="es-AR" sz="14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3F05D85-7C03-BCAC-961B-A6D9AC4B3ACD}"/>
              </a:ext>
            </a:extLst>
          </p:cNvPr>
          <p:cNvSpPr/>
          <p:nvPr/>
        </p:nvSpPr>
        <p:spPr>
          <a:xfrm>
            <a:off x="8605878" y="1301488"/>
            <a:ext cx="2170278" cy="732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Conclusión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6546C33C-B0A5-6FA8-7817-59B939EDF4E8}"/>
              </a:ext>
            </a:extLst>
          </p:cNvPr>
          <p:cNvSpPr/>
          <p:nvPr/>
        </p:nvSpPr>
        <p:spPr>
          <a:xfrm>
            <a:off x="8805754" y="6209837"/>
            <a:ext cx="2425916" cy="2696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>
                <a:hlinkClick r:id="rId6"/>
              </a:rPr>
              <a:t>Vehicle Sales Data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31DA41-A1BB-6BCD-C998-7DF10275E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310581"/>
            <a:ext cx="5596780" cy="3937818"/>
          </a:xfrm>
        </p:spPr>
        <p:txBody>
          <a:bodyPr/>
          <a:lstStyle/>
          <a:p>
            <a:endParaRPr lang="es-AR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4615E08-F61E-F65A-077B-28233456F0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577" y="597002"/>
            <a:ext cx="6379821" cy="573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6639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254</TotalTime>
  <Words>429</Words>
  <Application>Microsoft Office PowerPoint</Application>
  <PresentationFormat>Panorámica</PresentationFormat>
  <Paragraphs>24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Wingdings</vt:lpstr>
      <vt:lpstr>Wingdings 3</vt:lpstr>
      <vt:lpstr>Ion</vt:lpstr>
      <vt:lpstr>Vehicle Sales Data </vt:lpstr>
      <vt:lpstr>Limpieza de datos &amp; métricas univariadas</vt:lpstr>
      <vt:lpstr>Relación Venta VS Marca</vt:lpstr>
      <vt:lpstr>Presentación de PowerPoint</vt:lpstr>
      <vt:lpstr>Presentación de PowerPoint</vt:lpstr>
      <vt:lpstr>Presentación de PowerPoint</vt:lpstr>
      <vt:lpstr>El pairplot confirma que el mercado automotriz sigue una estructura clara: el precio de un vehículo está determinado principalmente por el año y KM, y ambos factores interactúan de forma conjunta para explicar su valor real. Además implementamos las ventas en función a la localidad.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Joaquín Bocco</dc:creator>
  <cp:lastModifiedBy>Joaquín Bocco</cp:lastModifiedBy>
  <cp:revision>3</cp:revision>
  <dcterms:created xsi:type="dcterms:W3CDTF">2025-11-24T20:21:28Z</dcterms:created>
  <dcterms:modified xsi:type="dcterms:W3CDTF">2025-11-27T23:37:51Z</dcterms:modified>
</cp:coreProperties>
</file>